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a362131694316" /><Relationship Type="http://schemas.openxmlformats.org/officeDocument/2006/relationships/extended-properties" Target="/docProps/app.xml" Id="R34f76bbfe5ba4808" /><Relationship Type="http://schemas.openxmlformats.org/officeDocument/2006/relationships/officeDocument" Target="/ppt/presentation.xml" Id="Rdbc5c22f8c00467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8f38653bc0b44d5"/>
  </p:sldMasterIdLst>
  <p:notesMasterIdLst>
    <p:notesMasterId xmlns:r="http://schemas.openxmlformats.org/officeDocument/2006/relationships" r:id="R482423bf1a924b29"/>
  </p:notesMasterIdLst>
  <p:sldIdLst>
    <p:sldId xmlns:r="http://schemas.openxmlformats.org/officeDocument/2006/relationships" id="256" r:id="R8693a9e4487346ba"/>
    <p:sldId xmlns:r="http://schemas.openxmlformats.org/officeDocument/2006/relationships" id="257" r:id="R6caaf771bed24e2b"/>
    <p:sldId xmlns:r="http://schemas.openxmlformats.org/officeDocument/2006/relationships" id="258" r:id="R7533474c52a94326"/>
    <p:sldId xmlns:r="http://schemas.openxmlformats.org/officeDocument/2006/relationships" id="259" r:id="R0660d72e953d4cc7"/>
    <p:sldId xmlns:r="http://schemas.openxmlformats.org/officeDocument/2006/relationships" id="260" r:id="R31f6030a23ef44c4"/>
    <p:sldId xmlns:r="http://schemas.openxmlformats.org/officeDocument/2006/relationships" id="261" r:id="R2c7b196dce574dbc"/>
    <p:sldId xmlns:r="http://schemas.openxmlformats.org/officeDocument/2006/relationships" id="262" r:id="R093a2697796e406d"/>
    <p:sldId xmlns:r="http://schemas.openxmlformats.org/officeDocument/2006/relationships" id="263" r:id="Rcd280bc16aa34b89"/>
    <p:sldId xmlns:r="http://schemas.openxmlformats.org/officeDocument/2006/relationships" id="264" r:id="Rd1585d5ce8834043"/>
    <p:sldId xmlns:r="http://schemas.openxmlformats.org/officeDocument/2006/relationships" id="265" r:id="R87ebe3391e1e4e7d"/>
    <p:sldId xmlns:r="http://schemas.openxmlformats.org/officeDocument/2006/relationships" id="266" r:id="R9f593ab5f9364f5d"/>
    <p:sldId xmlns:r="http://schemas.openxmlformats.org/officeDocument/2006/relationships" id="267" r:id="R28045af44f60445a"/>
  </p:sldIdLst>
  <p:sldSz cx="12192000" cy="6858000"/>
  <p:notesSz cx="6858000" cy="9144000"/>
  <p:embeddedFontLst>
    <p:embeddedFont>
      <p:font typeface="Montserrat"/>
      <p:regular xmlns:r="http://schemas.openxmlformats.org/officeDocument/2006/relationships" r:id="R56410f75a1f74d8e"/>
      <p:bold xmlns:r="http://schemas.openxmlformats.org/officeDocument/2006/relationships" r:id="R8e2d22e7da234861"/>
      <p:italic xmlns:r="http://schemas.openxmlformats.org/officeDocument/2006/relationships" r:id="R31bcbac24a204152"/>
      <p:boldItalic xmlns:r="http://schemas.openxmlformats.org/officeDocument/2006/relationships" r:id="R88a57a86e76a411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84de433404f79" /><Relationship Type="http://schemas.openxmlformats.org/officeDocument/2006/relationships/slideMaster" Target="/ppt/slideMasters/slideMaster1.xml" Id="Rb8f38653bc0b44d5" /><Relationship Type="http://schemas.openxmlformats.org/officeDocument/2006/relationships/notesMaster" Target="/ppt/notesMasters/notesMaster1.xml" Id="R482423bf1a924b29" /><Relationship Type="http://schemas.openxmlformats.org/officeDocument/2006/relationships/presProps" Target="/ppt/presProps.xml" Id="R7dcd2c4ea6ac40d2" /><Relationship Type="http://schemas.openxmlformats.org/officeDocument/2006/relationships/tableStyles" Target="/ppt/tableStyles.xml" Id="R614c71b9c98847e2" /><Relationship Type="http://schemas.openxmlformats.org/officeDocument/2006/relationships/font" Target="/ppt/fonts/font.dat" Id="R56410f75a1f74d8e" /><Relationship Type="http://schemas.openxmlformats.org/officeDocument/2006/relationships/font" Target="/ppt/fonts/font2.dat" Id="R8e2d22e7da234861" /><Relationship Type="http://schemas.openxmlformats.org/officeDocument/2006/relationships/font" Target="/ppt/fonts/font3.dat" Id="R31bcbac24a204152" /><Relationship Type="http://schemas.openxmlformats.org/officeDocument/2006/relationships/font" Target="/ppt/fonts/font4.dat" Id="R88a57a86e76a411e" /><Relationship Type="http://schemas.openxmlformats.org/officeDocument/2006/relationships/slide" Target="/ppt/slides/slide1.xml" Id="R8693a9e4487346ba" /><Relationship Type="http://schemas.openxmlformats.org/officeDocument/2006/relationships/slide" Target="/ppt/slides/slide2.xml" Id="R6caaf771bed24e2b" /><Relationship Type="http://schemas.openxmlformats.org/officeDocument/2006/relationships/slide" Target="/ppt/slides/slide3.xml" Id="R7533474c52a94326" /><Relationship Type="http://schemas.openxmlformats.org/officeDocument/2006/relationships/slide" Target="/ppt/slides/slide4.xml" Id="R0660d72e953d4cc7" /><Relationship Type="http://schemas.openxmlformats.org/officeDocument/2006/relationships/slide" Target="/ppt/slides/slide5.xml" Id="R31f6030a23ef44c4" /><Relationship Type="http://schemas.openxmlformats.org/officeDocument/2006/relationships/slide" Target="/ppt/slides/slide6.xml" Id="R2c7b196dce574dbc" /><Relationship Type="http://schemas.openxmlformats.org/officeDocument/2006/relationships/slide" Target="/ppt/slides/slide7.xml" Id="R093a2697796e406d" /><Relationship Type="http://schemas.openxmlformats.org/officeDocument/2006/relationships/slide" Target="/ppt/slides/slide8.xml" Id="Rcd280bc16aa34b89" /><Relationship Type="http://schemas.openxmlformats.org/officeDocument/2006/relationships/slide" Target="/ppt/slides/slide9.xml" Id="Rd1585d5ce8834043" /><Relationship Type="http://schemas.openxmlformats.org/officeDocument/2006/relationships/slide" Target="/ppt/slides/slide10.xml" Id="R87ebe3391e1e4e7d" /><Relationship Type="http://schemas.openxmlformats.org/officeDocument/2006/relationships/slide" Target="/ppt/slides/slide11.xml" Id="R9f593ab5f9364f5d" /><Relationship Type="http://schemas.openxmlformats.org/officeDocument/2006/relationships/slide" Target="/ppt/slides/slide12.xml" Id="R28045af44f60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38af2ace4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f23a1982b45ed" /><Relationship Type="http://schemas.openxmlformats.org/officeDocument/2006/relationships/notesMaster" Target="/ppt/notesMasters/notesMaster1.xml" Id="R94c7b922171e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18661a223e4db1" /><Relationship Type="http://schemas.openxmlformats.org/officeDocument/2006/relationships/notesMaster" Target="/ppt/notesMasters/notesMaster1.xml" Id="Ra8b0fb3afc8e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4a6267e2c4625" /><Relationship Type="http://schemas.openxmlformats.org/officeDocument/2006/relationships/notesMaster" Target="/ppt/notesMasters/notesMaster1.xml" Id="Rad116a3d658f45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d287ffea14224" /><Relationship Type="http://schemas.openxmlformats.org/officeDocument/2006/relationships/notesMaster" Target="/ppt/notesMasters/notesMaster1.xml" Id="R0f904e9e7de64c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1b0a3044714250" /><Relationship Type="http://schemas.openxmlformats.org/officeDocument/2006/relationships/notesMaster" Target="/ppt/notesMasters/notesMaster1.xml" Id="R591d6ff63d474f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653da8b5104ff5" /><Relationship Type="http://schemas.openxmlformats.org/officeDocument/2006/relationships/notesMaster" Target="/ppt/notesMasters/notesMaster1.xml" Id="R53077a97ad7d46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f687354dcb4f6d" /><Relationship Type="http://schemas.openxmlformats.org/officeDocument/2006/relationships/notesMaster" Target="/ppt/notesMasters/notesMaster1.xml" Id="R42e8391b1a8d49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057e05c0b47a1" /><Relationship Type="http://schemas.openxmlformats.org/officeDocument/2006/relationships/notesMaster" Target="/ppt/notesMasters/notesMaster1.xml" Id="R2ae78761aa8d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3c73f113b34dd1" /><Relationship Type="http://schemas.openxmlformats.org/officeDocument/2006/relationships/notesMaster" Target="/ppt/notesMasters/notesMaster1.xml" Id="R4a888fb29b8849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e26b278a884538" /><Relationship Type="http://schemas.openxmlformats.org/officeDocument/2006/relationships/notesMaster" Target="/ppt/notesMasters/notesMaster1.xml" Id="Re6aaa3da1383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ad7699a3cf47d6" /><Relationship Type="http://schemas.openxmlformats.org/officeDocument/2006/relationships/notesMaster" Target="/ppt/notesMasters/notesMaster1.xml" Id="R20b35803149c48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481a66d7e84df3" /><Relationship Type="http://schemas.openxmlformats.org/officeDocument/2006/relationships/notesMaster" Target="/ppt/notesMasters/notesMaster1.xml" Id="R46b27554a0d2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 visual: fotografia aérea fornecida pelo usuário.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67e6e889948b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0630845-816A-4D1A-85FA-639B29E4E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E356294-4C84-4EC7-BE42-4A399C6DE4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1350"/>
              <a:buChar char="−"/>
              <a:defRPr/>
            </a:lvl2pPr>
            <a:lvl3pPr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SzPts val="1350"/>
              <a:buChar char="−"/>
              <a:defRPr/>
            </a:lvl4pPr>
            <a:lvl5pPr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f86cf4788847eb" /><Relationship Type="http://schemas.openxmlformats.org/officeDocument/2006/relationships/slideLayout" Target="/ppt/slideLayouts/slideLayout1.xml" Id="R21d58c3584b54eb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BBCEFD7-2A78-42D1-ADFF-A8D565F36A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9DE076C5-B7BA-4AB0-9494-DB9BED66B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0861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2385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80035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8575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8575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d58c3584b54eb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9ea9540ef4cef" /><Relationship Type="http://schemas.openxmlformats.org/officeDocument/2006/relationships/image" Target="/ppt/media/image.jpeg" Id="Ra4a9e495b2c04a51" /><Relationship Type="http://schemas.openxmlformats.org/officeDocument/2006/relationships/notesSlide" Target="/ppt/notesSlides/notesSlide1.xml" Id="R458218d46cd2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dfa74e5da40b8" /><Relationship Type="http://schemas.openxmlformats.org/officeDocument/2006/relationships/notesSlide" Target="/ppt/notesSlides/notesSlide2.xml" Id="R4d9fe24073ff47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855eccac497f" /><Relationship Type="http://schemas.openxmlformats.org/officeDocument/2006/relationships/notesSlide" Target="/ppt/notesSlides/notesSlide3.xml" Id="R10daac8bc90c43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cfde237bc440b" /><Relationship Type="http://schemas.openxmlformats.org/officeDocument/2006/relationships/notesSlide" Target="/ppt/notesSlides/notesSlide4.xml" Id="R54e9599072c5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615ee7a0d425b" /><Relationship Type="http://schemas.openxmlformats.org/officeDocument/2006/relationships/image" Target="/ppt/media/image2.jpeg" Id="Rf74762c3fc5e42a6" /><Relationship Type="http://schemas.openxmlformats.org/officeDocument/2006/relationships/notesSlide" Target="/ppt/notesSlides/notesSlide5.xml" Id="Rad53346a01c846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0eec1fb2d4515" /><Relationship Type="http://schemas.openxmlformats.org/officeDocument/2006/relationships/image" Target="/ppt/media/image.png" Id="Ra7edf43a8b23463e" /><Relationship Type="http://schemas.openxmlformats.org/officeDocument/2006/relationships/notesSlide" Target="/ppt/notesSlides/notesSlide6.xml" Id="R9032f34c2cf748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88cfc8117413c" /><Relationship Type="http://schemas.openxmlformats.org/officeDocument/2006/relationships/notesSlide" Target="/ppt/notesSlides/notesSlide7.xml" Id="R9034e522f652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6f3f9d2d48e7" /><Relationship Type="http://schemas.openxmlformats.org/officeDocument/2006/relationships/notesSlide" Target="/ppt/notesSlides/notesSlide8.xml" Id="R9ddd2fd413d4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33fbaf6eb4c9c" /><Relationship Type="http://schemas.openxmlformats.org/officeDocument/2006/relationships/notesSlide" Target="/ppt/notesSlides/notesSlide9.xml" Id="Recb88f2928cc47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5f44b54e04259" /><Relationship Type="http://schemas.openxmlformats.org/officeDocument/2006/relationships/notesSlide" Target="/ppt/notesSlides/notesSlide10.xml" Id="R4856933021af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7b6c458b5417b" /><Relationship Type="http://schemas.openxmlformats.org/officeDocument/2006/relationships/notesSlide" Target="/ppt/notesSlides/notesSlide11.xml" Id="Rdd9a6388ee3342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292f7411647a8" /><Relationship Type="http://schemas.openxmlformats.org/officeDocument/2006/relationships/notesSlide" Target="/ppt/notesSlides/notesSlide12.xml" Id="Rad295c788be343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Google Shape;2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a9e495b2c04a51">
            <a:alphaModFix/>
          </a:blip>
          <a:srcRect xmlns:a="http://schemas.openxmlformats.org/drawingml/2006/main" l="0" t="12498" r="0" b="12498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EF9C336-9DCA-4C3D-9B3C-FE4984A8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6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644F757E-DAFA-4224-B794-9A49ECA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5" y="727100"/>
            <a:ext cx="4507200" cy="64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8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PINCIARA IMÓVEIS EXCLUSIVOS</a:t>
            </a:r>
            <a:endParaRPr sz="2018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46AEC76A-C393-4BF4-881E-B1B08F72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1952640"/>
            <a:ext cx="6190920" cy="14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86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Ilha do</a:t>
            </a:r>
            <a:endParaRPr sz="558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86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Tavares</a:t>
            </a:r>
            <a:endParaRPr sz="558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6E86D824-2261-45BB-AAD5-ABB75F8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790800"/>
            <a:ext cx="533376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7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Potencial logístico, naval e offshore</a:t>
            </a:r>
            <a:endParaRPr sz="183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7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 Baía de Guanabara</a:t>
            </a:r>
            <a:endParaRPr sz="183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0AC9BB20-ECC4-447F-8AC9-F77C2AA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667480"/>
            <a:ext cx="428580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Venda, arrendamento ou parceria estratégica</a:t>
            </a:r>
            <a:endParaRPr sz="83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044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5FC8D8A-B4CC-4444-B3C0-976E18BA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A5D52569-12BC-43B6-9EF3-A4907EE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E63D27C9-77F9-43B0-9F57-DF3F5D0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 oportunidade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80D882FF-F46F-4776-A18A-E545569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619280"/>
            <a:ext cx="90482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19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Ativo insular para avaliação de investidores e operadores da cadeia marítima.</a:t>
            </a:r>
            <a:endParaRPr sz="161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C139FD8A-944E-4AD5-8747-E52D650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5C058735-1626-4F1A-8008-C929D1B7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AADCF36A-8B0B-4A02-9AC1-6924E0C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Localização</a:t>
            </a:r>
            <a:endParaRPr sz="226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9A20026E-C6BD-42F9-B36E-90A5776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Inserida na Baía de Guanabara, próxima ao Gradim e conectada por via marítima a Niterói e ao Rio de Janeiro.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EB593C27-3348-40C0-947D-2F24510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EACA54AA-D4BD-4260-8C7C-0F8A81EA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9B2D8BE4-FD2A-44BE-A5BF-9563175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Tese comercial</a:t>
            </a:r>
            <a:endParaRPr sz="226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CFA85E0E-5790-47A5-82B1-63AF2C80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Possível apoio offshore, logística, manutenção leve, armazenagem e serviços náuticos de baixo impacto.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76CA66DB-FC7E-4A3E-B568-92407771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4DC96F53-5D6F-47B6-9ADB-3514191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E72EEEB9-E42A-437A-AE5B-A1572ED5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91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Condição de uso</a:t>
            </a:r>
            <a:endParaRPr sz="209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DB46F1D5-ACAC-410F-8AE9-6C81E98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Qualquer desenvolvimento depende de regularização patrimonial, viabilidade técnica e licenciamento.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966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5E2AB305-1D24-472A-9475-F3AF079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97263EA1-B324-4F7F-B2D6-5D897FF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A44339E3-D167-4D28-8A05-01C90FE2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Crescimento do petróleo offshore no Brasil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0BA2BF85-B804-4B9F-8359-C61380B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300225"/>
            <a:ext cx="5428800" cy="9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188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3,4 para 5,2</a:t>
            </a:r>
            <a:endParaRPr sz="6188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EE824626-9121-418E-ADEB-E4C8795A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319385"/>
            <a:ext cx="457170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8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milhões de barris/dia em cenário otimista descrito no material</a:t>
            </a:r>
            <a:endParaRPr sz="1358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7068C253-3BA5-45A6-9354-09EE52CF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1666800"/>
            <a:ext cx="4476240" cy="27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003F284D-F1C7-44FD-A123-DB41390F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1981080"/>
            <a:ext cx="38095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Infraestrutura de apoio</a:t>
            </a:r>
            <a:endParaRPr sz="142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760BD84C-C701-4964-B53A-BFBFB8B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457360"/>
            <a:ext cx="3714480" cy="13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A expansão do Pré-Sal pode demandar embarcações de suprimento, bases logísticas, manutenção naval, equipamentos submarinos, inspeção, armazenagem, transporte marítimo, resposta ambiental e descomissionamento.</a:t>
            </a:r>
            <a:endParaRPr sz="147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E7C5B3E4-F5C1-4594-84B5-992C8B7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000760"/>
            <a:ext cx="85723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3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A tese depende de confirmação atualizada de mercado.</a:t>
            </a:r>
            <a:endParaRPr sz="12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047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12F15C3A-B5AC-47CB-984B-93FD081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DA1E16C4-9EA6-430C-AD0D-3EC97EF2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04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80A7DEB1-30D1-4C8D-9060-38A41138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44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Investimentos no Pré-Sal e infraestrutura offshore</a:t>
            </a:r>
            <a:endParaRPr sz="2844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12DF6CB4-6362-4AF1-B07D-5CEC4AF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99518F9C-4A08-4CE0-B212-61A2282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051E619D-AFB9-4417-A6BE-79F00E5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Investidores citados</a:t>
            </a:r>
            <a:endParaRPr sz="158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26837597-D2A9-4F7B-962E-AF040F76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Petrobras, Shell, TotalEnergies, Equinor, BP, ExxonMobil, Karoon, Prio e Trident Energy.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D6AFB6AC-D4B8-4192-AE0D-8F656012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656B66ED-2F3C-438D-8131-38CB138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8AB4ECA6-8F96-4C08-9F08-BF5D3F1F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Escopo operacional</a:t>
            </a:r>
            <a:endParaRPr sz="175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905F0CBF-F6C1-468C-92A4-B114740D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FPSOs, poços, linhas submarinas, escoamento, reinjeção de gás e CO₂, equipamentos e manutenção.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C2FB774E-07F5-432C-A3F4-BA7A0B12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E9E1997A-A56D-4FCE-A89C-680BF60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2CA860A9-84B4-4FDE-90CF-46E3A76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91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Campos citados</a:t>
            </a:r>
            <a:endParaRPr sz="209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D3659EF-0A7D-49A8-900B-0AAF7CA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Búzios, Mero, Atapu, Sépia, Tupi, Itapu, Raia, Campos, cessão onerosa e novas áreas.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15101A38-3065-4066-9686-DDCC75A9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095800"/>
            <a:ext cx="9715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3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Búzios e Mero aparecem no material como projetos relevantes para a expansão e para a cadeia de serviços.</a:t>
            </a:r>
            <a:endParaRPr sz="114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5444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A3690344-1C2B-46EA-A5FB-14585220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2E00C213-73B2-4F77-8BA0-E1BA027A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05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71DD4ED9-0F4F-4801-88C8-BC79D07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Baía de Guanabara: polo naval e offshore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Google Shape;9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4762c3fc5e42a6">
            <a:alphaModFix/>
          </a:blip>
          <a:srcRect xmlns:a="http://schemas.openxmlformats.org/drawingml/2006/main" l="880" t="0" r="880" b="0"/>
          <a:stretch xmlns:a="http://schemas.openxmlformats.org/drawingml/2006/main"/>
        </p:blipFill>
        <p:spPr>
          <a:xfrm xmlns:a="http://schemas.openxmlformats.org/drawingml/2006/main" flipH="0" flipV="0">
            <a:off x="714240" y="1714680"/>
            <a:ext cx="4428720" cy="33811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E44533AA-8DCA-4911-B059-493FA9B0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20" y="1762200"/>
            <a:ext cx="45716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85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Capacidades regionais</a:t>
            </a:r>
            <a:endParaRPr sz="148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01E0EF62-15DF-4C6E-B738-F14B56E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20" y="2333520"/>
            <a:ext cx="476208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O entorno reúne estaleiros, oficinas navais, empresas de engenharia, bases de apoio, infraestrutura portuária e mão de obra especializada.</a:t>
            </a:r>
            <a:endParaRPr sz="155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26F5A8FD-A21A-46ED-9821-2AE290B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20" y="3476520"/>
            <a:ext cx="4762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7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Niterói, São Gonçalo e Rio de Janeiro têm tradição em construção, reparo, conversão e manutenção de embarcações e plataformas.</a:t>
            </a:r>
            <a:endParaRPr sz="141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39BB7D3B-60CD-4FAB-9E74-8C02EB06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20" y="4476600"/>
            <a:ext cx="476208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32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A condição atual dos ativos, obras e contratos requer confirmação independente.</a:t>
            </a:r>
            <a:endParaRPr sz="73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021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549E1310-1261-40B7-B166-0028061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A0E1484A-C977-41AE-90CC-5D0B3856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06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2684ADD2-645F-4572-88FD-80C1CE49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Localização estratégica da Ilha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" name="Google Shape;10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edf43a8b23463e">
            <a:alphaModFix/>
          </a:blip>
          <a:srcRect xmlns:a="http://schemas.openxmlformats.org/drawingml/2006/main" l="3954" t="0" r="3954" b="0"/>
          <a:stretch xmlns:a="http://schemas.openxmlformats.org/drawingml/2006/main"/>
        </p:blipFill>
        <p:spPr>
          <a:xfrm xmlns:a="http://schemas.openxmlformats.org/drawingml/2006/main" flipH="0" flipV="0">
            <a:off x="6858000" y="1571760"/>
            <a:ext cx="4619160" cy="3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78B2EA6A-0B33-48CB-B7BA-6C10976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666800"/>
            <a:ext cx="514332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Conexões potenciais</a:t>
            </a:r>
            <a:endParaRPr sz="189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5A86167D-0148-481D-B5EA-B7F4DDE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428920"/>
            <a:ext cx="2857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Gradim e São Gonçalo</a:t>
            </a:r>
            <a:endParaRPr sz="162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75329E0D-C2C0-4403-ABCF-4A78DCB3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685960"/>
            <a:ext cx="509544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Conexão com áreas costeiras, oficinas, armazéns e prestadores de serviços.</a:t>
            </a:r>
            <a:endParaRPr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558D598C-CB43-4FAA-9151-BAE4428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3267000"/>
            <a:ext cx="2857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Niterói e Rio de Janeiro</a:t>
            </a:r>
            <a:endParaRPr sz="162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A6E49053-2206-4E0A-A39E-3412C3BB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3524400"/>
            <a:ext cx="509544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Acesso marítimo a centros navais, corporativos e de suporte industrial.</a:t>
            </a:r>
            <a:endParaRPr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E2C77714-60F5-4612-99EE-772C03CA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56" y="4105450"/>
            <a:ext cx="4560900" cy="20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Porto do Rio e corredores regionais</a:t>
            </a:r>
            <a:endParaRPr sz="162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59731E3D-AC7F-4C95-A847-8C07D681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362480"/>
            <a:ext cx="509544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4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Possibilidade de apoio complementar para suprimentos, equipamentos e transporte.</a:t>
            </a:r>
            <a:endParaRPr sz="1434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39B3D925-F9F1-4935-8FF8-4102813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191200"/>
            <a:ext cx="5524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Atracação, profundidade, infraestrutura e autorizações exigem estudos específicos.</a:t>
            </a:r>
            <a:endParaRPr sz="95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6596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52BE4660-C35B-4059-8B4F-762B4101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822851AD-FB33-42A3-871D-02A8695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07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72D7F6F6-63B0-46B8-80FE-45FA026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Benefícios logísticos potenciais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0E8808BA-44E9-4C3F-B682-23BC453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1906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70A8D54B-2484-477E-9577-C6E685CA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4192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03DBCBA1-E857-453D-941A-E1620F6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8386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Gradim e cadeia naval</a:t>
            </a:r>
            <a:endParaRPr sz="158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1DE409A8-8753-4191-96C3-EE9BC9C7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4099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Ligação com áreas terrestres, oficinas, armazéns, fornecedores e mão de obra especializada.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522A21A0-C5CC-4884-A520-4A018CC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1906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034BAF27-957D-4395-9094-CF50476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4192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6FEF60F6-E7F6-408B-A3F4-95180DCA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8386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Baía e Porto do Rio</a:t>
            </a:r>
            <a:endParaRPr sz="175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8082F00D-CBC8-4AE4-892F-9E82232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4099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Conexão marítima com Niterói, Rio e demais áreas da baía, com apoio complementar de suprimentos.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3AA4282C-132C-4D81-940B-F39E5CD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1906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21691127-B5C3-46E3-AB32-0E38B6A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4192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953C258B-7E7A-4F9D-8B4D-ED7CE289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8386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Integração multimodal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FBECCC01-2DFF-47ED-AD28-E4A0A16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4099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Possível conexão entre transporte marítimo e rodoviário, sujeita à verificação de operação e acessos.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660D0F99-BB65-4C93-86E1-C079E7C3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191200"/>
            <a:ext cx="100008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1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área também pode ser avaliada para monitoramento, pesquisa, educação ambiental e recuperação ecológica.</a:t>
            </a:r>
            <a:endParaRPr sz="108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5912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11">
            <a:extLst xmlns:a="http://schemas.openxmlformats.org/drawingml/2006/main">
              <a:ext uri="{FF2B5EF4-FFF2-40B4-BE49-F238E27FC236}">
                <a16:creationId xmlns:a16="http://schemas.microsoft.com/office/drawing/2014/main" id="{1AB67A44-4E84-4C9F-A5D6-D3C221A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Google Shape;160;p11">
            <a:extLst xmlns:a="http://schemas.openxmlformats.org/drawingml/2006/main">
              <a:ext uri="{FF2B5EF4-FFF2-40B4-BE49-F238E27FC236}">
                <a16:creationId xmlns:a16="http://schemas.microsoft.com/office/drawing/2014/main" id="{4D979085-93E7-4325-9573-4359B22C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08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11">
            <a:extLst xmlns:a="http://schemas.openxmlformats.org/drawingml/2006/main">
              <a:ext uri="{FF2B5EF4-FFF2-40B4-BE49-F238E27FC236}">
                <a16:creationId xmlns:a16="http://schemas.microsoft.com/office/drawing/2014/main" id="{D1101F1D-C0EF-485F-821D-A240D21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Empresas para prospecção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1">
            <a:extLst xmlns:a="http://schemas.openxmlformats.org/drawingml/2006/main">
              <a:ext uri="{FF2B5EF4-FFF2-40B4-BE49-F238E27FC236}">
                <a16:creationId xmlns:a16="http://schemas.microsoft.com/office/drawing/2014/main" id="{6CAAF68A-AE6E-4743-A63E-610BAC73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0001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1">
            <a:extLst xmlns:a="http://schemas.openxmlformats.org/drawingml/2006/main">
              <a:ext uri="{FF2B5EF4-FFF2-40B4-BE49-F238E27FC236}">
                <a16:creationId xmlns:a16="http://schemas.microsoft.com/office/drawing/2014/main" id="{906C7C69-8A70-4AB5-A840-DF91386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2287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1">
            <a:extLst xmlns:a="http://schemas.openxmlformats.org/drawingml/2006/main">
              <a:ext uri="{FF2B5EF4-FFF2-40B4-BE49-F238E27FC236}">
                <a16:creationId xmlns:a16="http://schemas.microsoft.com/office/drawing/2014/main" id="{1D3C1F8C-1168-41A1-9062-EBC7F11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6478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Apoio marítimo</a:t>
            </a:r>
            <a:endParaRPr sz="226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1">
            <a:extLst xmlns:a="http://schemas.openxmlformats.org/drawingml/2006/main">
              <a:ext uri="{FF2B5EF4-FFF2-40B4-BE49-F238E27FC236}">
                <a16:creationId xmlns:a16="http://schemas.microsoft.com/office/drawing/2014/main" id="{375F22A1-0BDC-4F95-BD07-873C1CA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2194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Edison Chouest, Bram, DOF, Solstad, Svitzer e Wilson Sons.</a:t>
            </a:r>
            <a:endParaRPr sz="162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1">
            <a:extLst xmlns:a="http://schemas.openxmlformats.org/drawingml/2006/main">
              <a:ext uri="{FF2B5EF4-FFF2-40B4-BE49-F238E27FC236}">
                <a16:creationId xmlns:a16="http://schemas.microsoft.com/office/drawing/2014/main" id="{70825235-92D0-4074-A200-71B2E2E5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0001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1">
            <a:extLst xmlns:a="http://schemas.openxmlformats.org/drawingml/2006/main">
              <a:ext uri="{FF2B5EF4-FFF2-40B4-BE49-F238E27FC236}">
                <a16:creationId xmlns:a16="http://schemas.microsoft.com/office/drawing/2014/main" id="{C28612F2-3EA1-4F4B-833A-1C6F8DC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2287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1">
            <a:extLst xmlns:a="http://schemas.openxmlformats.org/drawingml/2006/main">
              <a:ext uri="{FF2B5EF4-FFF2-40B4-BE49-F238E27FC236}">
                <a16:creationId xmlns:a16="http://schemas.microsoft.com/office/drawing/2014/main" id="{39BB9E96-0D33-456C-A34D-2BF44FD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6478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Subsea e engenharia</a:t>
            </a:r>
            <a:endParaRPr sz="158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1">
            <a:extLst xmlns:a="http://schemas.openxmlformats.org/drawingml/2006/main">
              <a:ext uri="{FF2B5EF4-FFF2-40B4-BE49-F238E27FC236}">
                <a16:creationId xmlns:a16="http://schemas.microsoft.com/office/drawing/2014/main" id="{951C3256-A5D3-4233-9CE1-71A335F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2194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Oceaneering, Subsea7, Saipem, TechnipFMC, Helix, Baker Hughes, SLB e Halliburton.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11">
            <a:extLst xmlns:a="http://schemas.openxmlformats.org/drawingml/2006/main">
              <a:ext uri="{FF2B5EF4-FFF2-40B4-BE49-F238E27FC236}">
                <a16:creationId xmlns:a16="http://schemas.microsoft.com/office/drawing/2014/main" id="{F5AA0187-4669-45DE-92D8-0E703A93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0001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1">
            <a:extLst xmlns:a="http://schemas.openxmlformats.org/drawingml/2006/main">
              <a:ext uri="{FF2B5EF4-FFF2-40B4-BE49-F238E27FC236}">
                <a16:creationId xmlns:a16="http://schemas.microsoft.com/office/drawing/2014/main" id="{8552E0FC-E093-48E7-B84D-B4D0BBD3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2287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p11">
            <a:extLst xmlns:a="http://schemas.openxmlformats.org/drawingml/2006/main">
              <a:ext uri="{FF2B5EF4-FFF2-40B4-BE49-F238E27FC236}">
                <a16:creationId xmlns:a16="http://schemas.microsoft.com/office/drawing/2014/main" id="{61C82AB8-D75F-4CAE-B807-BCFF3FC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6478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Logística e conformidade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11">
            <a:extLst xmlns:a="http://schemas.openxmlformats.org/drawingml/2006/main">
              <a:ext uri="{FF2B5EF4-FFF2-40B4-BE49-F238E27FC236}">
                <a16:creationId xmlns:a16="http://schemas.microsoft.com/office/drawing/2014/main" id="{EF87D6A7-74A0-45C4-B75D-85F0E04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2194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Monjasa, Blue Water Shipping, DNV, Bureau Veritas, ABS e empresas de inspeção.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Google Shape;174;p11">
            <a:extLst xmlns:a="http://schemas.openxmlformats.org/drawingml/2006/main">
              <a:ext uri="{FF2B5EF4-FFF2-40B4-BE49-F238E27FC236}">
                <a16:creationId xmlns:a16="http://schemas.microsoft.com/office/drawing/2014/main" id="{4FF34B10-DE2E-4416-8D1E-EC68FB40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000760"/>
            <a:ext cx="1019124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6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Operadoras como Petrobras, Shell, Equinor, TotalEnergies, BP, ExxonMobil, Prio, Trident, Enauta e PetroReconcavo podem ser clientes indiretos ou contratantes.</a:t>
            </a:r>
            <a:endParaRPr sz="125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7376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Google Shape;201;p13">
            <a:extLst xmlns:a="http://schemas.openxmlformats.org/drawingml/2006/main">
              <a:ext uri="{FF2B5EF4-FFF2-40B4-BE49-F238E27FC236}">
                <a16:creationId xmlns:a16="http://schemas.microsoft.com/office/drawing/2014/main" id="{E24F07B1-7E2D-474B-8391-3D9CDDD8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Google Shape;202;p13">
            <a:extLst xmlns:a="http://schemas.openxmlformats.org/drawingml/2006/main">
              <a:ext uri="{FF2B5EF4-FFF2-40B4-BE49-F238E27FC236}">
                <a16:creationId xmlns:a16="http://schemas.microsoft.com/office/drawing/2014/main" id="{957C7E1D-A166-4AA8-8890-BE8F551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09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Google Shape;203;p13">
            <a:extLst xmlns:a="http://schemas.openxmlformats.org/drawingml/2006/main">
              <a:ext uri="{FF2B5EF4-FFF2-40B4-BE49-F238E27FC236}">
                <a16:creationId xmlns:a16="http://schemas.microsoft.com/office/drawing/2014/main" id="{C6E8D114-EC29-4180-9445-4DA2A04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Diferenciais competitivos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Google Shape;204;p13">
            <a:extLst xmlns:a="http://schemas.openxmlformats.org/drawingml/2006/main">
              <a:ext uri="{FF2B5EF4-FFF2-40B4-BE49-F238E27FC236}">
                <a16:creationId xmlns:a16="http://schemas.microsoft.com/office/drawing/2014/main" id="{759B0165-7AE5-48B8-8662-BD80809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Google Shape;205;p13">
            <a:extLst xmlns:a="http://schemas.openxmlformats.org/drawingml/2006/main">
              <a:ext uri="{FF2B5EF4-FFF2-40B4-BE49-F238E27FC236}">
                <a16:creationId xmlns:a16="http://schemas.microsoft.com/office/drawing/2014/main" id="{D9124924-B0F9-4D47-BBF4-9F5D524A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Google Shape;206;p13">
            <a:extLst xmlns:a="http://schemas.openxmlformats.org/drawingml/2006/main">
              <a:ext uri="{FF2B5EF4-FFF2-40B4-BE49-F238E27FC236}">
                <a16:creationId xmlns:a16="http://schemas.microsoft.com/office/drawing/2014/main" id="{606EE7C6-B4C8-4281-A83D-BB152130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Localização marítima</a:t>
            </a:r>
            <a:endParaRPr sz="158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Google Shape;207;p13">
            <a:extLst xmlns:a="http://schemas.openxmlformats.org/drawingml/2006/main">
              <a:ext uri="{FF2B5EF4-FFF2-40B4-BE49-F238E27FC236}">
                <a16:creationId xmlns:a16="http://schemas.microsoft.com/office/drawing/2014/main" id="{D9621404-28B5-40C4-AE83-B1E7514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Acesso direto à Baía de Guanabara e possibilidade de complementar instalações terrestres.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p13">
            <a:extLst xmlns:a="http://schemas.openxmlformats.org/drawingml/2006/main">
              <a:ext uri="{FF2B5EF4-FFF2-40B4-BE49-F238E27FC236}">
                <a16:creationId xmlns:a16="http://schemas.microsoft.com/office/drawing/2014/main" id="{FECB961E-0A45-4AB1-85FC-E12CEE3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13">
            <a:extLst xmlns:a="http://schemas.openxmlformats.org/drawingml/2006/main">
              <a:ext uri="{FF2B5EF4-FFF2-40B4-BE49-F238E27FC236}">
                <a16:creationId xmlns:a16="http://schemas.microsoft.com/office/drawing/2014/main" id="{404DDF07-BC47-4A77-B621-4B422AD3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13">
            <a:extLst xmlns:a="http://schemas.openxmlformats.org/drawingml/2006/main">
              <a:ext uri="{FF2B5EF4-FFF2-40B4-BE49-F238E27FC236}">
                <a16:creationId xmlns:a16="http://schemas.microsoft.com/office/drawing/2014/main" id="{631256FB-6453-421B-9FD3-1AE9073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Ecossistema industrial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13">
            <a:extLst xmlns:a="http://schemas.openxmlformats.org/drawingml/2006/main">
              <a:ext uri="{FF2B5EF4-FFF2-40B4-BE49-F238E27FC236}">
                <a16:creationId xmlns:a16="http://schemas.microsoft.com/office/drawing/2014/main" id="{96BA5999-70CE-4C66-B102-C6B7A79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Proximidade de estaleiros, fornecedores, mão de obra naval e empresas de engenharia.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13">
            <a:extLst xmlns:a="http://schemas.openxmlformats.org/drawingml/2006/main">
              <a:ext uri="{FF2B5EF4-FFF2-40B4-BE49-F238E27FC236}">
                <a16:creationId xmlns:a16="http://schemas.microsoft.com/office/drawing/2014/main" id="{920E62AD-BF6D-4D81-975A-0456463B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Google Shape;213;p13">
            <a:extLst xmlns:a="http://schemas.openxmlformats.org/drawingml/2006/main">
              <a:ext uri="{FF2B5EF4-FFF2-40B4-BE49-F238E27FC236}">
                <a16:creationId xmlns:a16="http://schemas.microsoft.com/office/drawing/2014/main" id="{4BDB299F-6E35-4D95-8B7E-A0CAD917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Google Shape;214;p13">
            <a:extLst xmlns:a="http://schemas.openxmlformats.org/drawingml/2006/main">
              <a:ext uri="{FF2B5EF4-FFF2-40B4-BE49-F238E27FC236}">
                <a16:creationId xmlns:a16="http://schemas.microsoft.com/office/drawing/2014/main" id="{14C41475-9F46-45DA-87E8-404077F9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Usos diversificados</a:t>
            </a:r>
            <a:endParaRPr sz="175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Google Shape;215;p13">
            <a:extLst xmlns:a="http://schemas.openxmlformats.org/drawingml/2006/main">
              <a:ext uri="{FF2B5EF4-FFF2-40B4-BE49-F238E27FC236}">
                <a16:creationId xmlns:a16="http://schemas.microsoft.com/office/drawing/2014/main" id="{8DEA35FC-E109-4D40-88F9-F9301D4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Apoio offshore, logística, manutenção, pesquisa, turismo e gestão ambiental, conforme viabilidade.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13">
            <a:extLst xmlns:a="http://schemas.openxmlformats.org/drawingml/2006/main">
              <a:ext uri="{FF2B5EF4-FFF2-40B4-BE49-F238E27FC236}">
                <a16:creationId xmlns:a16="http://schemas.microsoft.com/office/drawing/2014/main" id="{E69BEB5B-CF45-4C90-A789-211A215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191200"/>
            <a:ext cx="102866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1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demanda por inspeção, manutenção, segurança, gestão ambiental e descomissionamento pode persistir ao longo da transição energética.</a:t>
            </a:r>
            <a:endParaRPr sz="108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49018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16">
            <a:extLst xmlns:a="http://schemas.openxmlformats.org/drawingml/2006/main">
              <a:ext uri="{FF2B5EF4-FFF2-40B4-BE49-F238E27FC236}">
                <a16:creationId xmlns:a16="http://schemas.microsoft.com/office/drawing/2014/main" id="{D70EB42B-F61E-4145-9544-DF156A13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Google Shape;265;p16">
            <a:extLst xmlns:a="http://schemas.openxmlformats.org/drawingml/2006/main">
              <a:ext uri="{FF2B5EF4-FFF2-40B4-BE49-F238E27FC236}">
                <a16:creationId xmlns:a16="http://schemas.microsoft.com/office/drawing/2014/main" id="{3A8FFCCE-8365-4DD3-9B5B-670B4FA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10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Google Shape;266;p16">
            <a:extLst xmlns:a="http://schemas.openxmlformats.org/drawingml/2006/main">
              <a:ext uri="{FF2B5EF4-FFF2-40B4-BE49-F238E27FC236}">
                <a16:creationId xmlns:a16="http://schemas.microsoft.com/office/drawing/2014/main" id="{67F4BA9F-9EC2-4346-B735-8AFEA416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Proposta de valor para investidores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Google Shape;267;p16">
            <a:extLst xmlns:a="http://schemas.openxmlformats.org/drawingml/2006/main">
              <a:ext uri="{FF2B5EF4-FFF2-40B4-BE49-F238E27FC236}">
                <a16:creationId xmlns:a16="http://schemas.microsoft.com/office/drawing/2014/main" id="{BEC51126-3688-444F-8C25-D15774D5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619280"/>
            <a:ext cx="1000080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Presença na Baía de Guanabara, próxima a um ecossistema naval e offshore consolidado.</a:t>
            </a:r>
            <a:endParaRPr sz="142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Google Shape;268;p16">
            <a:extLst xmlns:a="http://schemas.openxmlformats.org/drawingml/2006/main">
              <a:ext uri="{FF2B5EF4-FFF2-40B4-BE49-F238E27FC236}">
                <a16:creationId xmlns:a16="http://schemas.microsoft.com/office/drawing/2014/main" id="{32B6F4A6-9A1F-48D2-8D85-C1D1951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16">
            <a:extLst xmlns:a="http://schemas.openxmlformats.org/drawingml/2006/main">
              <a:ext uri="{FF2B5EF4-FFF2-40B4-BE49-F238E27FC236}">
                <a16:creationId xmlns:a16="http://schemas.microsoft.com/office/drawing/2014/main" id="{ACC893C2-D16D-42C4-8610-E303212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16">
            <a:extLst xmlns:a="http://schemas.openxmlformats.org/drawingml/2006/main">
              <a:ext uri="{FF2B5EF4-FFF2-40B4-BE49-F238E27FC236}">
                <a16:creationId xmlns:a16="http://schemas.microsoft.com/office/drawing/2014/main" id="{93E92B85-F64C-4BBD-889E-730A83F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Localização diferenciada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16">
            <a:extLst xmlns:a="http://schemas.openxmlformats.org/drawingml/2006/main">
              <a:ext uri="{FF2B5EF4-FFF2-40B4-BE49-F238E27FC236}">
                <a16:creationId xmlns:a16="http://schemas.microsoft.com/office/drawing/2014/main" id="{8C5B9D02-85CE-40AD-8CDB-A8E52C37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Ativo insular com potencial de acesso marítimo e proximidade de fornecedores e clientes.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Google Shape;272;p16">
            <a:extLst xmlns:a="http://schemas.openxmlformats.org/drawingml/2006/main">
              <a:ext uri="{FF2B5EF4-FFF2-40B4-BE49-F238E27FC236}">
                <a16:creationId xmlns:a16="http://schemas.microsoft.com/office/drawing/2014/main" id="{D778C07F-9002-4F40-87CB-CCE8CD2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16">
            <a:extLst xmlns:a="http://schemas.openxmlformats.org/drawingml/2006/main">
              <a:ext uri="{FF2B5EF4-FFF2-40B4-BE49-F238E27FC236}">
                <a16:creationId xmlns:a16="http://schemas.microsoft.com/office/drawing/2014/main" id="{8BD74D55-E381-4145-A69E-F4FF7241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16">
            <a:extLst xmlns:a="http://schemas.openxmlformats.org/drawingml/2006/main">
              <a:ext uri="{FF2B5EF4-FFF2-40B4-BE49-F238E27FC236}">
                <a16:creationId xmlns:a16="http://schemas.microsoft.com/office/drawing/2014/main" id="{B080FDD3-34D8-437A-AC23-D16D8F7B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Flexibilidade comercial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16">
            <a:extLst xmlns:a="http://schemas.openxmlformats.org/drawingml/2006/main">
              <a:ext uri="{FF2B5EF4-FFF2-40B4-BE49-F238E27FC236}">
                <a16:creationId xmlns:a16="http://schemas.microsoft.com/office/drawing/2014/main" id="{F0E90676-7410-4D77-9C9C-FCB17B5E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9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Venda, arrendamento, parceria operacional ou desenvolvimento sob medida.</a:t>
            </a:r>
            <a:endParaRPr sz="149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Google Shape;276;p16">
            <a:extLst xmlns:a="http://schemas.openxmlformats.org/drawingml/2006/main">
              <a:ext uri="{FF2B5EF4-FFF2-40B4-BE49-F238E27FC236}">
                <a16:creationId xmlns:a16="http://schemas.microsoft.com/office/drawing/2014/main" id="{07FBCEC5-795B-4A50-9D1F-78398E97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28600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16">
            <a:extLst xmlns:a="http://schemas.openxmlformats.org/drawingml/2006/main">
              <a:ext uri="{FF2B5EF4-FFF2-40B4-BE49-F238E27FC236}">
                <a16:creationId xmlns:a16="http://schemas.microsoft.com/office/drawing/2014/main" id="{07FE8627-9D1D-4FDA-929B-69A456A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51460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Google Shape;278;p16">
            <a:extLst xmlns:a="http://schemas.openxmlformats.org/drawingml/2006/main">
              <a:ext uri="{FF2B5EF4-FFF2-40B4-BE49-F238E27FC236}">
                <a16:creationId xmlns:a16="http://schemas.microsoft.com/office/drawing/2014/main" id="{14FC9AED-34D4-4C8D-AA8B-8538CD1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93364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3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Infraestrutura especializada</a:t>
            </a:r>
            <a:endParaRPr sz="1413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Google Shape;279;p16">
            <a:extLst xmlns:a="http://schemas.openxmlformats.org/drawingml/2006/main">
              <a:ext uri="{FF2B5EF4-FFF2-40B4-BE49-F238E27FC236}">
                <a16:creationId xmlns:a16="http://schemas.microsoft.com/office/drawing/2014/main" id="{543F9A50-B6CA-4A37-91F0-EAE6FB8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50532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Possibilidade de desenvolver uma operação complementar, conforme estudos e aprovações.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2346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Google Shape;285;p17">
            <a:extLst xmlns:a="http://schemas.openxmlformats.org/drawingml/2006/main">
              <a:ext uri="{FF2B5EF4-FFF2-40B4-BE49-F238E27FC236}">
                <a16:creationId xmlns:a16="http://schemas.microsoft.com/office/drawing/2014/main" id="{7A9CF851-7AA1-43B7-9A3A-1935313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Google Shape;286;p17">
            <a:extLst xmlns:a="http://schemas.openxmlformats.org/drawingml/2006/main">
              <a:ext uri="{FF2B5EF4-FFF2-40B4-BE49-F238E27FC236}">
                <a16:creationId xmlns:a16="http://schemas.microsoft.com/office/drawing/2014/main" id="{04A36C36-3555-4D79-B5E4-3C9FEB3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11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Google Shape;287;p17">
            <a:extLst xmlns:a="http://schemas.openxmlformats.org/drawingml/2006/main">
              <a:ext uri="{FF2B5EF4-FFF2-40B4-BE49-F238E27FC236}">
                <a16:creationId xmlns:a16="http://schemas.microsoft.com/office/drawing/2014/main" id="{3A8495C5-BAA4-4D1A-B7C7-C65D8C1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Chamada para investidores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Google Shape;288;p17">
            <a:extLst xmlns:a="http://schemas.openxmlformats.org/drawingml/2006/main">
              <a:ext uri="{FF2B5EF4-FFF2-40B4-BE49-F238E27FC236}">
                <a16:creationId xmlns:a16="http://schemas.microsoft.com/office/drawing/2014/main" id="{1F43BD37-E34B-4F97-966D-3F3BF29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17">
            <a:extLst xmlns:a="http://schemas.openxmlformats.org/drawingml/2006/main">
              <a:ext uri="{FF2B5EF4-FFF2-40B4-BE49-F238E27FC236}">
                <a16:creationId xmlns:a16="http://schemas.microsoft.com/office/drawing/2014/main" id="{A0253F11-B7B8-4016-8979-72B57F8B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01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Google Shape;290;p17">
            <a:extLst xmlns:a="http://schemas.openxmlformats.org/drawingml/2006/main">
              <a:ext uri="{FF2B5EF4-FFF2-40B4-BE49-F238E27FC236}">
                <a16:creationId xmlns:a16="http://schemas.microsoft.com/office/drawing/2014/main" id="{D898C492-1844-4BF0-A7AF-B9C15292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21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Perfis prioritários</a:t>
            </a:r>
            <a:endParaRPr sz="192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Google Shape;291;p17">
            <a:extLst xmlns:a="http://schemas.openxmlformats.org/drawingml/2006/main">
              <a:ext uri="{FF2B5EF4-FFF2-40B4-BE49-F238E27FC236}">
                <a16:creationId xmlns:a16="http://schemas.microsoft.com/office/drawing/2014/main" id="{F8720597-235E-45DB-858B-5CFB2BF6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6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Operadores offshore, apoio marítimo, logística, serviços submarinos, estaleiros, descomissionamento e tecnologia marítima.</a:t>
            </a:r>
            <a:endParaRPr sz="125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Google Shape;292;p17">
            <a:extLst xmlns:a="http://schemas.openxmlformats.org/drawingml/2006/main">
              <a:ext uri="{FF2B5EF4-FFF2-40B4-BE49-F238E27FC236}">
                <a16:creationId xmlns:a16="http://schemas.microsoft.com/office/drawing/2014/main" id="{A7520E2D-64B6-4F78-9A68-F15F2FA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Google Shape;293;p17">
            <a:extLst xmlns:a="http://schemas.openxmlformats.org/drawingml/2006/main">
              <a:ext uri="{FF2B5EF4-FFF2-40B4-BE49-F238E27FC236}">
                <a16:creationId xmlns:a16="http://schemas.microsoft.com/office/drawing/2014/main" id="{6DF7D19F-DEE6-478A-BE3C-D794E54A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02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Google Shape;294;p17">
            <a:extLst xmlns:a="http://schemas.openxmlformats.org/drawingml/2006/main">
              <a:ext uri="{FF2B5EF4-FFF2-40B4-BE49-F238E27FC236}">
                <a16:creationId xmlns:a16="http://schemas.microsoft.com/office/drawing/2014/main" id="{5F2C4FDC-C90B-4316-B54C-C03E4F5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2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Formatos disponíveis</a:t>
            </a:r>
            <a:endParaRPr sz="1582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Google Shape;295;p17">
            <a:extLst xmlns:a="http://schemas.openxmlformats.org/drawingml/2006/main">
              <a:ext uri="{FF2B5EF4-FFF2-40B4-BE49-F238E27FC236}">
                <a16:creationId xmlns:a16="http://schemas.microsoft.com/office/drawing/2014/main" id="{34C29E4F-851A-4E52-B11B-7EF31A22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Venda, arrendamento de longo prazo, parceria operacional, joint venture e desenvolvimento sob medida.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Google Shape;296;p17">
            <a:extLst xmlns:a="http://schemas.openxmlformats.org/drawingml/2006/main">
              <a:ext uri="{FF2B5EF4-FFF2-40B4-BE49-F238E27FC236}">
                <a16:creationId xmlns:a16="http://schemas.microsoft.com/office/drawing/2014/main" id="{3A459111-2065-4612-A73B-95ADAEE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095560"/>
            <a:ext cx="3190680" cy="238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Google Shape;297;p17">
            <a:extLst xmlns:a="http://schemas.openxmlformats.org/drawingml/2006/main">
              <a:ext uri="{FF2B5EF4-FFF2-40B4-BE49-F238E27FC236}">
                <a16:creationId xmlns:a16="http://schemas.microsoft.com/office/drawing/2014/main" id="{1C14CAA0-131B-470F-AF17-9420D91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324160"/>
            <a:ext cx="3614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03</a:t>
            </a:r>
            <a:endParaRPr sz="56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Google Shape;298;p17">
            <a:extLst xmlns:a="http://schemas.openxmlformats.org/drawingml/2006/main">
              <a:ext uri="{FF2B5EF4-FFF2-40B4-BE49-F238E27FC236}">
                <a16:creationId xmlns:a16="http://schemas.microsoft.com/office/drawing/2014/main" id="{65291965-63A2-48A5-8F89-F83DB3AA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2743200"/>
            <a:ext cx="2666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91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Próximo contato</a:t>
            </a:r>
            <a:endParaRPr sz="209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17">
            <a:extLst xmlns:a="http://schemas.openxmlformats.org/drawingml/2006/main">
              <a:ext uri="{FF2B5EF4-FFF2-40B4-BE49-F238E27FC236}">
                <a16:creationId xmlns:a16="http://schemas.microsoft.com/office/drawing/2014/main" id="{F6D829CB-81B6-4BF8-9B79-ADDA6CA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40" y="3314880"/>
            <a:ext cx="26665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7" b="0" i="0" u="none" cap="none">
                <a:solidFill>
                  <a:srgbClr val="B7B7B7"/>
                </a:solidFill>
                <a:latin typeface="Calibri"/>
                <a:ea typeface="Calibri"/>
                <a:cs typeface="Calibri"/>
              </a:rPr>
              <a:t>Visita técnica, definição da tese de uso e encaminhamento da diligência documental, técnica e ambiental.</a:t>
            </a:r>
            <a:endParaRPr sz="137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17">
            <a:extLst xmlns:a="http://schemas.openxmlformats.org/drawingml/2006/main">
              <a:ext uri="{FF2B5EF4-FFF2-40B4-BE49-F238E27FC236}">
                <a16:creationId xmlns:a16="http://schemas.microsoft.com/office/drawing/2014/main" id="{01EBA111-D226-473D-950C-DBC83DE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5191200"/>
            <a:ext cx="9524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1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A lista de perfis representa público-alvo comercial, não interesse já manifestado.</a:t>
            </a:r>
            <a:endParaRPr sz="108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303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Google Shape;306;p18">
            <a:extLst xmlns:a="http://schemas.openxmlformats.org/drawingml/2006/main">
              <a:ext uri="{FF2B5EF4-FFF2-40B4-BE49-F238E27FC236}">
                <a16:creationId xmlns:a16="http://schemas.microsoft.com/office/drawing/2014/main" id="{F3309B2B-D1F2-4DD4-9904-38ACBCC1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495360"/>
            <a:ext cx="37800" cy="33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Google Shape;307;p18">
            <a:extLst xmlns:a="http://schemas.openxmlformats.org/drawingml/2006/main">
              <a:ext uri="{FF2B5EF4-FFF2-40B4-BE49-F238E27FC236}">
                <a16:creationId xmlns:a16="http://schemas.microsoft.com/office/drawing/2014/main" id="{AA38EA8E-9231-4305-92CA-CA34BD8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476280"/>
            <a:ext cx="34286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6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12 / ILHA DO TAVARES</a:t>
            </a:r>
            <a:endParaRPr sz="826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Google Shape;308;p18">
            <a:extLst xmlns:a="http://schemas.openxmlformats.org/drawingml/2006/main">
              <a:ext uri="{FF2B5EF4-FFF2-40B4-BE49-F238E27FC236}">
                <a16:creationId xmlns:a16="http://schemas.microsoft.com/office/drawing/2014/main" id="{1D323BBD-47C9-4F9E-A657-BA91A63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819000"/>
            <a:ext cx="1057248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95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Encerramento</a:t>
            </a:r>
            <a:endParaRPr sz="3395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Google Shape;309;p18">
            <a:extLst xmlns:a="http://schemas.openxmlformats.org/drawingml/2006/main">
              <a:ext uri="{FF2B5EF4-FFF2-40B4-BE49-F238E27FC236}">
                <a16:creationId xmlns:a16="http://schemas.microsoft.com/office/drawing/2014/main" id="{319CB85C-BAB2-4259-BC77-53A8751D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695600"/>
            <a:ext cx="666720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11" b="1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Ilha do Tavares</a:t>
            </a:r>
            <a:endParaRPr sz="3511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p18">
            <a:extLst xmlns:a="http://schemas.openxmlformats.org/drawingml/2006/main">
              <a:ext uri="{FF2B5EF4-FFF2-40B4-BE49-F238E27FC236}">
                <a16:creationId xmlns:a16="http://schemas.microsoft.com/office/drawing/2014/main" id="{CB4CB3E6-BEC8-4970-B6E5-A2A5C58A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428920"/>
            <a:ext cx="771480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Um ativo insular para avaliação de investidores e operadores da cadeia naval, logística e offshore da Baía de Guanabara.</a:t>
            </a:r>
            <a:endParaRPr sz="155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Google Shape;311;p18">
            <a:extLst xmlns:a="http://schemas.openxmlformats.org/drawingml/2006/main">
              <a:ext uri="{FF2B5EF4-FFF2-40B4-BE49-F238E27FC236}">
                <a16:creationId xmlns:a16="http://schemas.microsoft.com/office/drawing/2014/main" id="{925890DE-959C-41BF-B2EB-0BECDB9C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3666960"/>
            <a:ext cx="7238520" cy="1142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 cmpd="sng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18">
            <a:extLst xmlns:a="http://schemas.openxmlformats.org/drawingml/2006/main">
              <a:ext uri="{FF2B5EF4-FFF2-40B4-BE49-F238E27FC236}">
                <a16:creationId xmlns:a16="http://schemas.microsoft.com/office/drawing/2014/main" id="{70565CBB-5BFE-41F3-9928-6D6731AF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80" y="3952800"/>
            <a:ext cx="590508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9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Localização: Gradim, São Gonçalo, Rio de Janeiro</a:t>
            </a:r>
            <a:endParaRPr sz="164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9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Oportunidade: venda, arrendamento ou parceria</a:t>
            </a:r>
            <a:endParaRPr sz="1649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Google Shape;313;p18">
            <a:extLst xmlns:a="http://schemas.openxmlformats.org/drawingml/2006/main">
              <a:ext uri="{FF2B5EF4-FFF2-40B4-BE49-F238E27FC236}">
                <a16:creationId xmlns:a16="http://schemas.microsoft.com/office/drawing/2014/main" id="{B268ECBF-64A8-43B6-BC68-6790485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55" y="5619600"/>
            <a:ext cx="3738300" cy="22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7" b="1" i="0" u="none" cap="none">
                <a:solidFill>
                  <a:srgbClr val="FFBB00"/>
                </a:solidFill>
                <a:latin typeface="Montserrat"/>
                <a:ea typeface="Montserrat"/>
                <a:cs typeface="Montserrat"/>
              </a:rPr>
              <a:t>Luiz Pinciara: (21) 3811-1369</a:t>
            </a:r>
            <a:endParaRPr sz="1767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6788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2026-09-17T17:41:10.1970000Z</dcterms:created>
  <dcterms:modified xsi:type="dcterms:W3CDTF">2026-09-17T17:41:10.1970000Z</dcterms:modified>
</coreProperties>
</file>